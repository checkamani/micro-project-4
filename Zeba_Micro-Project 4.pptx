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9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0F8B4-7B63-4549-A5E3-C848C9EB175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F1C36-98F0-CC48-B153-21C0073C2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0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0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2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AFC1-4F45-459D-BC95-0F8F5E3A42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eckamani/micro-project-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sdot/flight-delay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472273"/>
            <a:ext cx="8382000" cy="3155182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Airline Delay &amp; Cancellation Analysis (2015)</a:t>
            </a:r>
            <a:br>
              <a:rPr lang="en-US" sz="4900" b="1" dirty="0"/>
            </a:br>
            <a:br>
              <a:rPr lang="en-US" sz="2800" b="1" dirty="0"/>
            </a:br>
            <a:r>
              <a:rPr lang="en-US" sz="2800" b="1" dirty="0"/>
              <a:t>Micro-Project 4: Machine Learning 2 of 2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000" dirty="0">
                <a:hlinkClick r:id="rId2"/>
              </a:rPr>
              <a:t>https://github.com/checkamani/micro-project-4</a:t>
            </a:r>
            <a:br>
              <a:rPr lang="en-US" sz="4800" dirty="0"/>
            </a:br>
            <a:br>
              <a:rPr lang="en-US" sz="800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7703"/>
            <a:ext cx="9144000" cy="855361"/>
          </a:xfrm>
        </p:spPr>
        <p:txBody>
          <a:bodyPr/>
          <a:lstStyle/>
          <a:p>
            <a:r>
              <a:rPr lang="en-US" sz="1600" dirty="0"/>
              <a:t>Rogomparade Zeba</a:t>
            </a:r>
          </a:p>
          <a:p>
            <a:r>
              <a:rPr lang="en-US" sz="1600" dirty="0"/>
              <a:t>November 23,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10870" cy="20804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Flight delays and cancellations are a key operational challenge for airlines and airports.</a:t>
            </a:r>
            <a:br>
              <a:rPr lang="en-US" sz="1800" dirty="0"/>
            </a:br>
            <a:r>
              <a:rPr lang="en-US" sz="1800" dirty="0"/>
              <a:t>This project explores the 2015 U.S. flight-delay data to identify patterns of departure and arrival delays across airlines and airports.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653041" cy="25264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H₀ (null): There is no significant difference in average departure delay across U.S. airlines and airports.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H₁ (alternative): Average departure delay differs significantly by airline and airport.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825626"/>
            <a:ext cx="10678602" cy="35450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Dataset: Flight Delays and Cancellations (2015), </a:t>
            </a:r>
            <a:r>
              <a:rPr lang="en-US" sz="1800" dirty="0">
                <a:hlinkClick r:id="rId2"/>
              </a:rPr>
              <a:t>https://www.kaggle.com/datasets/usdot/flight-delays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Source: Kaggle - U.S. Department of Transportation – Bureau of Transportation Statistics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File Used: </a:t>
            </a:r>
            <a:r>
              <a:rPr lang="en-US" sz="1800" dirty="0" err="1"/>
              <a:t>flights.csv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Size: ≈ 5,819,079 rows × 31 columns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Key Variables: </a:t>
            </a:r>
            <a:r>
              <a:rPr lang="en-US" sz="1800" dirty="0" err="1"/>
              <a:t>fl_date</a:t>
            </a:r>
            <a:r>
              <a:rPr lang="en-US" sz="1800" dirty="0"/>
              <a:t>, airline, </a:t>
            </a:r>
            <a:r>
              <a:rPr lang="en-US" sz="1800" dirty="0" err="1"/>
              <a:t>origin_airport</a:t>
            </a:r>
            <a:r>
              <a:rPr lang="en-US" sz="1800" dirty="0"/>
              <a:t>, </a:t>
            </a:r>
            <a:r>
              <a:rPr lang="en-US" sz="1800" dirty="0" err="1"/>
              <a:t>destination_airport</a:t>
            </a:r>
            <a:r>
              <a:rPr lang="en-US" sz="1800" dirty="0"/>
              <a:t>, </a:t>
            </a:r>
            <a:r>
              <a:rPr lang="en-US" sz="1800" dirty="0" err="1"/>
              <a:t>depature_delay</a:t>
            </a:r>
            <a:r>
              <a:rPr lang="en-US" sz="1800" dirty="0"/>
              <a:t>, </a:t>
            </a:r>
            <a:r>
              <a:rPr lang="en-US" sz="1800" dirty="0" err="1"/>
              <a:t>arrival_delay</a:t>
            </a:r>
            <a:r>
              <a:rPr lang="en-US" sz="1800" dirty="0"/>
              <a:t>, cancelled, distance, </a:t>
            </a:r>
            <a:r>
              <a:rPr lang="en-US" sz="1800" dirty="0" err="1"/>
              <a:t>weather_delay</a:t>
            </a:r>
            <a:r>
              <a:rPr lang="en-US" sz="1800" dirty="0"/>
              <a:t>, </a:t>
            </a:r>
            <a:r>
              <a:rPr lang="en-US" sz="1800" dirty="0" err="1"/>
              <a:t>air_delay</a:t>
            </a:r>
            <a:r>
              <a:rPr lang="en-US" sz="1800" dirty="0"/>
              <a:t>, </a:t>
            </a:r>
            <a:r>
              <a:rPr lang="en-US" sz="1800" dirty="0" err="1"/>
              <a:t>security_delay</a:t>
            </a:r>
            <a:r>
              <a:rPr lang="en-US" sz="1800" dirty="0"/>
              <a:t>, </a:t>
            </a:r>
            <a:r>
              <a:rPr lang="en-US" sz="1800" dirty="0" err="1"/>
              <a:t>late_aircraft_delay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9314794" cy="3871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Tasks performed with NumPy + Pandas: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Loaded the dataset and inspected structure (.info(), .shape()).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Filtered the dataset to retain only features directly related to arrival-delay modeling.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Constructed </a:t>
            </a:r>
            <a:r>
              <a:rPr lang="en-US" sz="1800" dirty="0" err="1"/>
              <a:t>fl_date</a:t>
            </a:r>
            <a:r>
              <a:rPr lang="en-US" sz="1800" dirty="0"/>
              <a:t> from YEAR, MONTH, DAY and parsed to datetime.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Dropped rows missing delay values.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Kept early (negative) departures; created nonnegative delay minutes via clipping for summaries (e.g., </a:t>
            </a:r>
            <a:r>
              <a:rPr lang="en-US" sz="1800" dirty="0" err="1"/>
              <a:t>dep_delay_min</a:t>
            </a:r>
            <a:r>
              <a:rPr lang="en-US" sz="1800" dirty="0"/>
              <a:t> = max(</a:t>
            </a:r>
            <a:r>
              <a:rPr lang="en-US" sz="1800" dirty="0" err="1"/>
              <a:t>departure_delay</a:t>
            </a:r>
            <a:r>
              <a:rPr lang="en-US" sz="1800" dirty="0"/>
              <a:t>, 0)).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Created a derived variable </a:t>
            </a:r>
            <a:r>
              <a:rPr lang="en-US" sz="1800" dirty="0" err="1"/>
              <a:t>Delay_Status</a:t>
            </a:r>
            <a:r>
              <a:rPr lang="en-US" sz="1800" dirty="0"/>
              <a:t> (&gt;15 min = “Delayed”).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Removed duplicates.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Saved cleaned data as </a:t>
            </a:r>
            <a:r>
              <a:rPr lang="en-US" sz="1800" dirty="0" err="1"/>
              <a:t>cleaned_flights.csv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8821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A2CA-A4EB-847D-86AC-44939DDA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7234-AC33-3998-A726-F9593FC8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78" y="1"/>
            <a:ext cx="10515600" cy="1021596"/>
          </a:xfrm>
        </p:spPr>
        <p:txBody>
          <a:bodyPr/>
          <a:lstStyle/>
          <a:p>
            <a:r>
              <a:rPr lang="en-US" dirty="0"/>
              <a:t>Prepare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E93C48E-F2B9-AA7D-1065-D00213F28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22" y="1656522"/>
            <a:ext cx="9666512" cy="461939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CCD0F-4A7D-702E-35F9-66F9CE3D2170}"/>
              </a:ext>
            </a:extLst>
          </p:cNvPr>
          <p:cNvSpPr txBox="1"/>
          <p:nvPr/>
        </p:nvSpPr>
        <p:spPr>
          <a:xfrm>
            <a:off x="793822" y="1021596"/>
            <a:ext cx="514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Result: A clean, structured dataset ready for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73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11" y="1"/>
            <a:ext cx="10515600" cy="1195754"/>
          </a:xfrm>
        </p:spPr>
        <p:txBody>
          <a:bodyPr/>
          <a:lstStyle/>
          <a:p>
            <a:r>
              <a:rPr lang="en-US" dirty="0"/>
              <a:t>Analyze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195755"/>
            <a:ext cx="12001918" cy="48484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Technique Selected:</a:t>
            </a:r>
            <a:br>
              <a:rPr lang="en-US" sz="1800" dirty="0"/>
            </a:br>
            <a:r>
              <a:rPr lang="en-US" sz="1800" dirty="0"/>
              <a:t>Descriptive analytics and visualization using Python (Pandas, Seaborn, Matplotlib).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Approach:</a:t>
            </a:r>
            <a:br>
              <a:rPr lang="en-US" sz="1800" dirty="0"/>
            </a:br>
            <a:r>
              <a:rPr lang="en-US" sz="1800" dirty="0"/>
              <a:t>- Summarized key delay statistics (mean, median, spread).</a:t>
            </a:r>
            <a:br>
              <a:rPr lang="en-US" sz="1800" dirty="0"/>
            </a:br>
            <a:r>
              <a:rPr lang="en-US" sz="1800" dirty="0"/>
              <a:t>- Visualized delay distributions using histograms and KDE to assess skewness.</a:t>
            </a:r>
            <a:br>
              <a:rPr lang="en-US" sz="1800" dirty="0"/>
            </a:br>
            <a:r>
              <a:rPr lang="en-US" sz="1800" dirty="0"/>
              <a:t>- Compared average delays across airlines and airports.</a:t>
            </a:r>
            <a:br>
              <a:rPr lang="en-US" sz="1800" dirty="0"/>
            </a:br>
            <a:r>
              <a:rPr lang="en-US" sz="1800" dirty="0"/>
              <a:t>- Analyzed monthly patterns to identify seasonal peaks.</a:t>
            </a:r>
            <a:br>
              <a:rPr lang="en-US" sz="1800" dirty="0"/>
            </a:br>
            <a:r>
              <a:rPr lang="en-US" sz="1800" dirty="0"/>
              <a:t>- Assessed the relationship between departure and arrival delays using correlation.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Key Insight:</a:t>
            </a:r>
            <a:br>
              <a:rPr lang="en-US" sz="1800" dirty="0"/>
            </a:br>
            <a:r>
              <a:rPr lang="en-US" sz="1800" dirty="0"/>
              <a:t>Delays are right-skewed, peak during summer and holiday months, and show a strong departure–arrival correlation (r ≈ 0.8).</a:t>
            </a:r>
          </a:p>
        </p:txBody>
      </p:sp>
    </p:spTree>
    <p:extLst>
      <p:ext uri="{BB962C8B-B14F-4D97-AF65-F5344CB8AC3E}">
        <p14:creationId xmlns:p14="http://schemas.microsoft.com/office/powerpoint/2010/main" val="6979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9A061-E83D-66D9-2B95-6C94BCF0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A8EE0-D494-96CA-EEFD-38BC4019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41" y="0"/>
            <a:ext cx="3309229" cy="895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Analyze data</a:t>
            </a:r>
          </a:p>
        </p:txBody>
      </p:sp>
      <p:pic>
        <p:nvPicPr>
          <p:cNvPr id="72" name="Picture 71" descr="A graph with a line going up&#10;&#10;Description automatically generated">
            <a:extLst>
              <a:ext uri="{FF2B5EF4-FFF2-40B4-BE49-F238E27FC236}">
                <a16:creationId xmlns:a16="http://schemas.microsoft.com/office/drawing/2014/main" id="{FAF58429-AC30-A3FB-B102-3FC31751B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907788"/>
            <a:ext cx="4197481" cy="286477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F46FEE2-0702-2D55-2407-2199F99BC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137" y="1198494"/>
            <a:ext cx="4496756" cy="2709294"/>
          </a:xfrm>
          <a:prstGeom prst="rect">
            <a:avLst/>
          </a:prstGeom>
        </p:spPr>
      </p:pic>
      <p:pic>
        <p:nvPicPr>
          <p:cNvPr id="50" name="Picture 49" descr="A graph of a flight delay&#10;&#10;Description automatically generated">
            <a:extLst>
              <a:ext uri="{FF2B5EF4-FFF2-40B4-BE49-F238E27FC236}">
                <a16:creationId xmlns:a16="http://schemas.microsoft.com/office/drawing/2014/main" id="{FFBDE30D-9C48-2DEA-022D-834D8D2C9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8" y="4232029"/>
            <a:ext cx="4767407" cy="2455213"/>
          </a:xfrm>
          <a:prstGeom prst="rect">
            <a:avLst/>
          </a:prstGeom>
        </p:spPr>
      </p:pic>
      <p:pic>
        <p:nvPicPr>
          <p:cNvPr id="74" name="Picture 73" descr="A graph with a line going up&#10;&#10;Description automatically generated">
            <a:extLst>
              <a:ext uri="{FF2B5EF4-FFF2-40B4-BE49-F238E27FC236}">
                <a16:creationId xmlns:a16="http://schemas.microsoft.com/office/drawing/2014/main" id="{BE57EFED-5A5C-12E5-179B-6937B87EF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46" y="1264522"/>
            <a:ext cx="4633390" cy="29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5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2944"/>
            <a:ext cx="10515600" cy="1325563"/>
          </a:xfrm>
        </p:spPr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56" y="897934"/>
            <a:ext cx="11729544" cy="58924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Dataset Summary:</a:t>
            </a:r>
            <a:br>
              <a:rPr lang="en-US" sz="1800" dirty="0"/>
            </a:br>
            <a:r>
              <a:rPr lang="en-US" sz="1800" dirty="0"/>
              <a:t>The full cleaned dataset contained 1.42 million rows × 19 columns.</a:t>
            </a:r>
            <a:br>
              <a:rPr lang="en-US" sz="1800" dirty="0"/>
            </a:br>
            <a:r>
              <a:rPr lang="en-US" sz="1800" dirty="0"/>
              <a:t>A subset of 400,000 rows was randomly sampled from the original dataset to make the analysis more efficient.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Descriptive Statistics &amp; Distributions:</a:t>
            </a:r>
            <a:br>
              <a:rPr lang="en-US" sz="1800" dirty="0"/>
            </a:br>
            <a:r>
              <a:rPr lang="en-US" sz="1800" dirty="0"/>
              <a:t>Most flights depart on time or within 15 minutes, and the distribution of delays is right-skewed with a small number of large delays. </a:t>
            </a:r>
          </a:p>
        </p:txBody>
      </p:sp>
      <p:pic>
        <p:nvPicPr>
          <p:cNvPr id="7" name="Picture 6" descr="A graph with a line going up&#10;&#10;Description automatically generated">
            <a:extLst>
              <a:ext uri="{FF2B5EF4-FFF2-40B4-BE49-F238E27FC236}">
                <a16:creationId xmlns:a16="http://schemas.microsoft.com/office/drawing/2014/main" id="{A4111F57-AF5F-221F-1B25-00250FE77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74" y="2772150"/>
            <a:ext cx="5738147" cy="367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0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D653-EC1F-4472-CF17-430F7C6E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7331-241F-E7F7-3446-B1422507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2944"/>
            <a:ext cx="10515600" cy="1325563"/>
          </a:xfrm>
        </p:spPr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B77F-BF37-DFC0-4F34-4242ABCD2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76" y="1185009"/>
            <a:ext cx="11729544" cy="48339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Comparisons Across Airlines:</a:t>
            </a:r>
            <a:br>
              <a:rPr lang="en-US" sz="1800" dirty="0"/>
            </a:br>
            <a:r>
              <a:rPr lang="en-US" sz="1800" dirty="0"/>
              <a:t>Average delay times vary by airline, with some carriers showing consistently lower delay averages while others experience higher delays.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Airport Performance:</a:t>
            </a:r>
            <a:br>
              <a:rPr lang="en-US" sz="1800" dirty="0"/>
            </a:br>
            <a:r>
              <a:rPr lang="en-US" sz="1800" dirty="0"/>
              <a:t>Major hub airports (ORD, JFK, LGA) show higher average departure delays, reflecting congestion and operational complexity.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Seasonal Patterns:</a:t>
            </a:r>
            <a:br>
              <a:rPr lang="en-US" sz="1800" dirty="0"/>
            </a:br>
            <a:r>
              <a:rPr lang="en-US" sz="1800" dirty="0"/>
              <a:t>Clear seasonal peaks appear in June–July and December, driven by weather disruptions and increased travel volume.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Correlation Analysis:</a:t>
            </a:r>
            <a:br>
              <a:rPr lang="en-US" sz="1800" dirty="0"/>
            </a:br>
            <a:r>
              <a:rPr lang="en-US" sz="1800" dirty="0"/>
              <a:t>While delays are positively associated overall (r ≈ 0.8), the relationship becomes nonlinear for severe delays: once departure delays exceed 60 minutes, arrival delays rise disproportionately faster.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1800" dirty="0"/>
            </a:br>
            <a:r>
              <a:rPr lang="en-US" sz="1800" dirty="0"/>
              <a:t>The analysis clearly communicates where and when delays occur, providing insights that could guide operational planning and performance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425317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221AA6A-14A3-4CB1-A46D-4BBC72A2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8C1A2-E365-4EAD-A777-10EF9BD2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26" y="176561"/>
            <a:ext cx="3670987" cy="1008987"/>
          </a:xfrm>
        </p:spPr>
        <p:txBody>
          <a:bodyPr>
            <a:normAutofit/>
          </a:bodyPr>
          <a:lstStyle/>
          <a:p>
            <a:r>
              <a:rPr lang="en-US" sz="4000" dirty="0"/>
              <a:t>Act</a:t>
            </a:r>
          </a:p>
        </p:txBody>
      </p:sp>
      <p:pic>
        <p:nvPicPr>
          <p:cNvPr id="7" name="Picture 6" descr="A graph of a blue line&#10;&#10;Description automatically generated">
            <a:extLst>
              <a:ext uri="{FF2B5EF4-FFF2-40B4-BE49-F238E27FC236}">
                <a16:creationId xmlns:a16="http://schemas.microsoft.com/office/drawing/2014/main" id="{014251BE-D5B3-5509-8CEF-DF809BE24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738" y="217475"/>
            <a:ext cx="3328041" cy="2371229"/>
          </a:xfrm>
          <a:prstGeom prst="rect">
            <a:avLst/>
          </a:prstGeom>
        </p:spPr>
      </p:pic>
      <p:pic>
        <p:nvPicPr>
          <p:cNvPr id="5" name="Picture 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8ADC5F3B-8A7B-2E75-5AD5-02D8A4FA6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679" y="2589429"/>
            <a:ext cx="3424158" cy="2371229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4E68568-CEE8-64A5-09A7-9D2B2D6AB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756" y="5435596"/>
            <a:ext cx="4079244" cy="11523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0D0A-FDCC-4561-A8EB-1F836A94A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27" y="1381901"/>
            <a:ext cx="8013372" cy="49360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Apply Results</a:t>
            </a:r>
            <a:br>
              <a:rPr lang="en-US" sz="1800" dirty="0"/>
            </a:br>
            <a:r>
              <a:rPr lang="en-US" sz="1800" dirty="0"/>
              <a:t>- Random Forest (R² = 0.927) and Linear Regression (R² = 0.925) accurately predict arrival delays.</a:t>
            </a:r>
            <a:br>
              <a:rPr lang="en-US" sz="1800" dirty="0"/>
            </a:br>
            <a:r>
              <a:rPr lang="en-US" sz="1800" dirty="0"/>
              <a:t>- Both models identify flights at high risk of arriving late, supporting proactive operations.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Recommendation</a:t>
            </a:r>
            <a:br>
              <a:rPr lang="en-US" sz="1800" dirty="0"/>
            </a:br>
            <a:r>
              <a:rPr lang="en-US" sz="1800" dirty="0"/>
              <a:t>- Use Random Forest for operational delay prediction.</a:t>
            </a:r>
            <a:br>
              <a:rPr lang="en-US" sz="1800" dirty="0"/>
            </a:br>
            <a:r>
              <a:rPr lang="en-US" sz="1800" dirty="0"/>
              <a:t>   It performs best, captures nonlinear patterns, and handles outliers well.</a:t>
            </a:r>
            <a:br>
              <a:rPr lang="en-US" sz="1800" dirty="0"/>
            </a:br>
            <a:r>
              <a:rPr lang="en-US" sz="1800" dirty="0"/>
              <a:t>- Avoid SVR (R² = 0.636) due to weak performance on large delays.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Operational Actions</a:t>
            </a:r>
            <a:br>
              <a:rPr lang="en-US" sz="1800" dirty="0"/>
            </a:br>
            <a:r>
              <a:rPr lang="en-US" sz="1800" dirty="0"/>
              <a:t>- Add buffer time for flights predicted to be delayed.</a:t>
            </a:r>
            <a:br>
              <a:rPr lang="en-US" sz="1800" dirty="0"/>
            </a:br>
            <a:r>
              <a:rPr lang="en-US" sz="1800" dirty="0"/>
              <a:t>- Improve turnaround and departure processes.</a:t>
            </a:r>
            <a:br>
              <a:rPr lang="en-US" sz="1800" dirty="0"/>
            </a:br>
            <a:r>
              <a:rPr lang="en-US" sz="1800" dirty="0"/>
              <a:t>- Prioritize high-risk routes for staffing, gates, and resources.</a:t>
            </a:r>
            <a:br>
              <a:rPr lang="en-US" sz="1800" dirty="0"/>
            </a:br>
            <a:r>
              <a:rPr lang="en-US" sz="1800" dirty="0"/>
              <a:t>- Use real-time alerts for flights likely to exceed 30-minute delays.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Connection</a:t>
            </a:r>
            <a:br>
              <a:rPr lang="en-US" sz="1800" dirty="0"/>
            </a:br>
            <a:r>
              <a:rPr lang="en-US" sz="1800" dirty="0"/>
              <a:t>- These models provide actionable insights to reduce delays and improve on-time performance.</a:t>
            </a: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2410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60643-A1B4-FDD2-147B-9C1D0366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221AA6A-14A3-4CB1-A46D-4BBC72A2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96C57-96FC-64D5-2347-A691B724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75" y="-12289"/>
            <a:ext cx="7036865" cy="1544062"/>
          </a:xfrm>
        </p:spPr>
        <p:txBody>
          <a:bodyPr>
            <a:normAutofit/>
          </a:bodyPr>
          <a:lstStyle/>
          <a:p>
            <a:r>
              <a:rPr lang="en-US" sz="4000" dirty="0"/>
              <a:t>Act</a:t>
            </a:r>
          </a:p>
        </p:txBody>
      </p:sp>
      <p:pic>
        <p:nvPicPr>
          <p:cNvPr id="7" name="Picture 6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37C5B809-EE04-C537-B75C-26127C11D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140" y="283773"/>
            <a:ext cx="3745428" cy="2237893"/>
          </a:xfrm>
          <a:prstGeom prst="rect">
            <a:avLst/>
          </a:prstGeom>
        </p:spPr>
      </p:pic>
      <p:pic>
        <p:nvPicPr>
          <p:cNvPr id="5" name="Picture 4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5A273C24-B619-187C-8D73-8169A6F91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140" y="2533955"/>
            <a:ext cx="3809179" cy="2237893"/>
          </a:xfrm>
          <a:prstGeom prst="rect">
            <a:avLst/>
          </a:prstGeom>
        </p:spPr>
      </p:pic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24EC018-164F-7427-6E07-19CDDC2AEC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752" y="4957951"/>
            <a:ext cx="3966751" cy="1794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D078-F4FF-5937-F0F2-BD4E1FDC8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43" y="1257208"/>
            <a:ext cx="7036865" cy="3946229"/>
          </a:xfrm>
        </p:spPr>
        <p:txBody>
          <a:bodyPr>
            <a:normAutofit/>
          </a:bodyPr>
          <a:lstStyle/>
          <a:p>
            <a:r>
              <a:rPr lang="en-US" sz="1800" dirty="0"/>
              <a:t>Best Model</a:t>
            </a:r>
            <a:br>
              <a:rPr lang="en-US" sz="1800" dirty="0"/>
            </a:br>
            <a:r>
              <a:rPr lang="en-US" sz="1800" dirty="0"/>
              <a:t>- Use MLP (R² = 0.975, RMSE = 6.1).</a:t>
            </a:r>
            <a:br>
              <a:rPr lang="en-US" sz="1800" dirty="0"/>
            </a:br>
            <a:r>
              <a:rPr lang="en-US" sz="1800" dirty="0"/>
              <a:t>- LSTM underperforms because data is not sequential.</a:t>
            </a:r>
          </a:p>
          <a:p>
            <a:r>
              <a:rPr lang="en-US" sz="1800" dirty="0"/>
              <a:t>How to Apply</a:t>
            </a:r>
            <a:br>
              <a:rPr lang="en-US" sz="1800" dirty="0"/>
            </a:br>
            <a:r>
              <a:rPr lang="en-US" sz="1800" dirty="0"/>
              <a:t>- Use MLP predictions to flag high-risk arrival delays.</a:t>
            </a:r>
            <a:br>
              <a:rPr lang="en-US" sz="1800" dirty="0"/>
            </a:br>
            <a:r>
              <a:rPr lang="en-US" sz="1800" dirty="0"/>
              <a:t>- Feed predictions into operations dashboards.</a:t>
            </a:r>
          </a:p>
          <a:p>
            <a:r>
              <a:rPr lang="en-US" sz="1800" dirty="0"/>
              <a:t>Operational Actions</a:t>
            </a:r>
            <a:br>
              <a:rPr lang="en-US" sz="1800" dirty="0"/>
            </a:br>
            <a:r>
              <a:rPr lang="en-US" sz="1800" dirty="0"/>
              <a:t>- Improve departure processes (departure delay - arrival delay).</a:t>
            </a:r>
            <a:br>
              <a:rPr lang="en-US" sz="1800" dirty="0"/>
            </a:br>
            <a:r>
              <a:rPr lang="en-US" sz="1800" dirty="0"/>
              <a:t>- Add buffer time for predicted-late flights.</a:t>
            </a:r>
            <a:br>
              <a:rPr lang="en-US" sz="1800" dirty="0"/>
            </a:br>
            <a:r>
              <a:rPr lang="en-US" sz="1800" dirty="0"/>
              <a:t>- Prioritize gates, crews, and resources for high-risk routes.</a:t>
            </a:r>
          </a:p>
          <a:p>
            <a:r>
              <a:rPr lang="en-US" sz="1800" dirty="0"/>
              <a:t>Impact</a:t>
            </a:r>
            <a:br>
              <a:rPr lang="en-US" sz="1800" dirty="0"/>
            </a:br>
            <a:r>
              <a:rPr lang="en-US" sz="1800" dirty="0"/>
              <a:t>- More accurate delay predictions, better on-time performance and smoother operations.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1825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2504</TotalTime>
  <Words>905</Words>
  <Application>Microsoft Macintosh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Airline Delay &amp; Cancellation Analysis (2015)  Micro-Project 4: Machine Learning 2 of 2  https://github.com/checkamani/micro-project-4  </vt:lpstr>
      <vt:lpstr>Problem Statement</vt:lpstr>
      <vt:lpstr>Hypothesis Formulation</vt:lpstr>
      <vt:lpstr>Acquire</vt:lpstr>
      <vt:lpstr>Prepare</vt:lpstr>
      <vt:lpstr>Prepare</vt:lpstr>
      <vt:lpstr>Analyze data</vt:lpstr>
      <vt:lpstr>Analyze data</vt:lpstr>
      <vt:lpstr>Report</vt:lpstr>
      <vt:lpstr>Report</vt:lpstr>
      <vt:lpstr>Act</vt:lpstr>
      <vt:lpstr>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 &lt;Micro-Project #&gt;</dc:title>
  <dc:creator>Emmanuel J Rodriguez</dc:creator>
  <cp:lastModifiedBy>Check Zeba</cp:lastModifiedBy>
  <cp:revision>52</cp:revision>
  <dcterms:created xsi:type="dcterms:W3CDTF">2022-03-01T22:05:03Z</dcterms:created>
  <dcterms:modified xsi:type="dcterms:W3CDTF">2025-11-22T20:20:55Z</dcterms:modified>
</cp:coreProperties>
</file>